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FFB6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555480" y="45720"/>
            <a:ext cx="2514600" cy="251460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DFF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0">
            <a:off x="18288" y="4800600"/>
            <a:ext cx="1810512" cy="1810512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315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Embedded Audio Mine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76656" y="12984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7CF"/>
                </a:solidFill>
              </a:rPr>
              <a:t>2026-06-10 found projects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719072"/>
            <a:ext cx="2651760" cy="0"/>
          </a:xfrm>
          <a:prstGeom prst="line">
            <a:avLst/>
          </a:prstGeom>
          <a:noFill/>
          <a:ln w="12700">
            <a:solidFill>
              <a:srgbClr val="3DFF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9339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EF4FF"/>
                </a:solidFill>
              </a:rPr>
              <a:t>Five embedded-audio candidates mined for firmware, hardware, DSP and adaptation value.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92240" y="932688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2314F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137160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RP2350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MOD2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1500000">
            <a:off x="6720840" y="1115568"/>
            <a:ext cx="960120" cy="96012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DFFB6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932688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2314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37160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Daisy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PENDAII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3600000">
            <a:off x="8503920" y="1115568"/>
            <a:ext cx="960120" cy="96012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0" y="932688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2314F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8128" y="137160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PSX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Verb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rot="5700000">
            <a:off x="10287000" y="1115568"/>
            <a:ext cx="960120" cy="96012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FF6BD6">
                <a:alpha val="8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92608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2314F"/>
          </a:solidFill>
          <a:ln w="12700">
            <a:solidFill>
              <a:srgbClr val="5EA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3364992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Spectral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Delay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rot="7800000">
            <a:off x="6720840" y="3108960"/>
            <a:ext cx="960120" cy="96012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5EA1FF">
                <a:alpha val="8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292608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2314F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3364992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Pedal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Proto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 rot="9900000">
            <a:off x="8503920" y="3108960"/>
            <a:ext cx="960120" cy="96012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52D6FF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292608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2314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8128" y="3364992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Patterns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F4FF"/>
                </a:solidFill>
              </a:rPr>
              <a:t>+ Steps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rot="12000000">
            <a:off x="10287000" y="3108960"/>
            <a:ext cx="960120" cy="96012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73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Audio Mine • 2026-06-10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2D6FF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555480" y="45720"/>
            <a:ext cx="2514600" cy="251460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52D6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0">
            <a:off x="18288" y="4800600"/>
            <a:ext cx="1810512" cy="1810512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Digest map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832104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7CF"/>
                </a:solidFill>
              </a:rPr>
              <a:t>Ranked by utility × novelty × adaptability, with hardware evidence boosted.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161288"/>
            <a:ext cx="1920240" cy="0"/>
          </a:xfrm>
          <a:prstGeom prst="line">
            <a:avLst/>
          </a:prstGeom>
          <a:noFill/>
          <a:ln w="12700">
            <a:solidFill>
              <a:srgbClr val="52D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17233A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819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FFB6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15361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EF4FF"/>
                </a:solidFill>
              </a:rPr>
              <a:t>modulove/MOD2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1600200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3DFFB6">
              <a:alpha val="96000"/>
            </a:srgbClr>
          </a:solidFill>
          <a:ln w="12700">
            <a:solidFill>
              <a:srgbClr val="3DFFB6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1664208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STRONG_PASS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559552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RP2350 Eurorack firmware personalities + UF2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820656" y="15910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AB7CF"/>
                </a:solidFill>
              </a:rPr>
              <a:t>RP2350 / XIAO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5800" y="2276856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101A2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441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98448" y="239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EF4FF"/>
                </a:solidFill>
              </a:rPr>
              <a:t>PENDAII hardware + software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15968" y="2459736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FFD166">
              <a:alpha val="96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2523744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PASS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559552" y="24323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Stereo Daisy pedal platform: KiCad + framework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9820656" y="24505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AB7CF"/>
                </a:solidFill>
              </a:rPr>
              <a:t>Daisy Seed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5800" y="3136392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17233A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300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D6"/>
                </a:solidFill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98448" y="3255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EF4FF"/>
                </a:solidFill>
              </a:rPr>
              <a:t>CVCHothouse: PSXVerb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15968" y="3319272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FF6BD6">
              <a:alpha val="96000"/>
            </a:srgbClr>
          </a:solidFill>
          <a:ln w="12700">
            <a:solidFill>
              <a:srgbClr val="FF6BD6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3383280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PASS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559552" y="3291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PlayStation SPU reverb model on Hothouse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820656" y="33101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AB7CF"/>
                </a:solidFill>
              </a:rPr>
              <a:t>Daisy / Hothouse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85800" y="3995928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101A2F"/>
          </a:solidFill>
          <a:ln w="12700">
            <a:solidFill>
              <a:srgbClr val="5EA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4160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A1FF"/>
                </a:solidFill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98448" y="4114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EF4FF"/>
                </a:solidFill>
              </a:rPr>
              <a:t>FuzzyLotus/Phantasmagoria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5968" y="4178808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5EA1FF">
              <a:alpha val="96000"/>
            </a:srgbClr>
          </a:solidFill>
          <a:ln w="12700">
            <a:solidFill>
              <a:srgbClr val="5EA1FF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61688" y="4242816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STRONG_PASS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559552" y="41513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Flashable spectral delay for Terrarium/Daisy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9820656" y="41696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AB7CF"/>
                </a:solidFill>
              </a:rPr>
              <a:t>Daisy / Terrarium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5800" y="4855464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17233A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5020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D6FF"/>
                </a:solidFill>
              </a:rPr>
              <a:t>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98448" y="49743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EF4FF"/>
                </a:solidFill>
              </a:rPr>
              <a:t>Daisy Effect Pedal Prototyping Board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315968" y="5038344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52D6FF">
              <a:alpha val="96000"/>
            </a:srgbClr>
          </a:solidFill>
          <a:ln w="12700">
            <a:solidFill>
              <a:srgbClr val="52D6FF">
                <a:alpha val="8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61688" y="51023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REF_PASS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559552" y="50109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Forum-hidden pedal hardware scaffold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9820656" y="50292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AB7CF"/>
                </a:solidFill>
              </a:rPr>
              <a:t>Daisy + Oopsy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13232" y="5788152"/>
            <a:ext cx="10753344" cy="393192"/>
          </a:xfrm>
          <a:prstGeom prst="roundRect">
            <a:avLst>
              <a:gd name="adj" fmla="val 18605"/>
            </a:avLst>
          </a:prstGeom>
          <a:solidFill>
            <a:srgbClr val="07101D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897880"/>
            <a:ext cx="10287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AB7CF"/>
                </a:solidFill>
              </a:rPr>
              <a:t>What to mine: release packaging • hardware/service boundaries • authentic DSP constraints • UI/control models • first-step adaptation paths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Audio Mine • 2026-06-10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555480" y="45720"/>
            <a:ext cx="2514600" cy="251460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0">
            <a:off x="18288" y="4800600"/>
            <a:ext cx="1810512" cy="1810512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landscape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832104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7CF"/>
                </a:solidFill>
              </a:rPr>
              <a:t>The five finds cover three useful adaptation routes: voice firmware, pedal platform, and DSP algorithm.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161288"/>
            <a:ext cx="192024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2112264" cy="438912"/>
          </a:xfrm>
          <a:prstGeom prst="roundRect">
            <a:avLst>
              <a:gd name="adj" fmla="val 16667"/>
            </a:avLst>
          </a:prstGeom>
          <a:solidFill>
            <a:srgbClr val="22314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545336"/>
            <a:ext cx="196596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417320"/>
            <a:ext cx="2157984" cy="438912"/>
          </a:xfrm>
          <a:prstGeom prst="roundRect">
            <a:avLst>
              <a:gd name="adj" fmla="val 16667"/>
            </a:avLst>
          </a:prstGeom>
          <a:solidFill>
            <a:srgbClr val="22314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1545336"/>
            <a:ext cx="201168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1417320"/>
            <a:ext cx="3026664" cy="438912"/>
          </a:xfrm>
          <a:prstGeom prst="roundRect">
            <a:avLst>
              <a:gd name="adj" fmla="val 16667"/>
            </a:avLst>
          </a:prstGeom>
          <a:solidFill>
            <a:srgbClr val="22314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1545336"/>
            <a:ext cx="288036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asset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2935224" cy="438912"/>
          </a:xfrm>
          <a:prstGeom prst="roundRect">
            <a:avLst>
              <a:gd name="adj" fmla="val 16667"/>
            </a:avLst>
          </a:prstGeom>
          <a:solidFill>
            <a:srgbClr val="22314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65592" y="1545336"/>
            <a:ext cx="2788920" cy="91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payoff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1947672"/>
            <a:ext cx="211226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048256"/>
            <a:ext cx="198424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 voices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2834640" y="1947672"/>
            <a:ext cx="215798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7792" y="2048256"/>
            <a:ext cx="202996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MOD2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029200" y="1947672"/>
            <a:ext cx="302666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2048256"/>
            <a:ext cx="289864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UF2 + source personalities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8092440" y="1947672"/>
            <a:ext cx="293522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65592" y="2048256"/>
            <a:ext cx="280720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direct flash path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85800" y="2715768"/>
            <a:ext cx="2112264" cy="566928"/>
          </a:xfrm>
          <a:prstGeom prst="roundRect">
            <a:avLst>
              <a:gd name="adj" fmla="val 12903"/>
            </a:avLst>
          </a:prstGeom>
          <a:solidFill>
            <a:srgbClr val="101A2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2816352"/>
            <a:ext cx="198424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platform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2834640" y="2715768"/>
            <a:ext cx="2157984" cy="566928"/>
          </a:xfrm>
          <a:prstGeom prst="roundRect">
            <a:avLst>
              <a:gd name="adj" fmla="val 12903"/>
            </a:avLst>
          </a:prstGeom>
          <a:solidFill>
            <a:srgbClr val="101A2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07792" y="2816352"/>
            <a:ext cx="202996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PENDAII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029200" y="2715768"/>
            <a:ext cx="3026664" cy="566928"/>
          </a:xfrm>
          <a:prstGeom prst="roundRect">
            <a:avLst>
              <a:gd name="adj" fmla="val 12903"/>
            </a:avLst>
          </a:prstGeom>
          <a:solidFill>
            <a:srgbClr val="101A2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816352"/>
            <a:ext cx="289864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KiCad + Daisy framework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092440" y="2715768"/>
            <a:ext cx="2935224" cy="566928"/>
          </a:xfrm>
          <a:prstGeom prst="roundRect">
            <a:avLst>
              <a:gd name="adj" fmla="val 12903"/>
            </a:avLst>
          </a:prstGeom>
          <a:solidFill>
            <a:srgbClr val="101A2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65592" y="2816352"/>
            <a:ext cx="280720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carrier-board reference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85800" y="3483864"/>
            <a:ext cx="211226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3584448"/>
            <a:ext cx="198424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model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2834640" y="3483864"/>
            <a:ext cx="215798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07792" y="3584448"/>
            <a:ext cx="202996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PSXVerb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5029200" y="3483864"/>
            <a:ext cx="302666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3584448"/>
            <a:ext cx="289864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SPU reverb memory/rate model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092440" y="3483864"/>
            <a:ext cx="293522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65592" y="3584448"/>
            <a:ext cx="280720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DSP study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85800" y="4251960"/>
            <a:ext cx="2112264" cy="566928"/>
          </a:xfrm>
          <a:prstGeom prst="roundRect">
            <a:avLst>
              <a:gd name="adj" fmla="val 12903"/>
            </a:avLst>
          </a:prstGeom>
          <a:solidFill>
            <a:srgbClr val="101A2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" y="4352544"/>
            <a:ext cx="198424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product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2834640" y="4251960"/>
            <a:ext cx="2157984" cy="566928"/>
          </a:xfrm>
          <a:prstGeom prst="roundRect">
            <a:avLst>
              <a:gd name="adj" fmla="val 12903"/>
            </a:avLst>
          </a:prstGeom>
          <a:solidFill>
            <a:srgbClr val="101A2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07792" y="4352544"/>
            <a:ext cx="202996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Phantasmagoria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5029200" y="4251960"/>
            <a:ext cx="3026664" cy="566928"/>
          </a:xfrm>
          <a:prstGeom prst="roundRect">
            <a:avLst>
              <a:gd name="adj" fmla="val 12903"/>
            </a:avLst>
          </a:prstGeom>
          <a:solidFill>
            <a:srgbClr val="101A2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02352" y="4352544"/>
            <a:ext cx="289864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delay + release binary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8092440" y="4251960"/>
            <a:ext cx="2935224" cy="566928"/>
          </a:xfrm>
          <a:prstGeom prst="roundRect">
            <a:avLst>
              <a:gd name="adj" fmla="val 12903"/>
            </a:avLst>
          </a:prstGeom>
          <a:solidFill>
            <a:srgbClr val="101A2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65592" y="4352544"/>
            <a:ext cx="280720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immediate pedal experiment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685800" y="5020056"/>
            <a:ext cx="211226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" y="5120640"/>
            <a:ext cx="198424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scaffold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2834640" y="5020056"/>
            <a:ext cx="215798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07792" y="5120640"/>
            <a:ext cx="202996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Pedal protoboard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5029200" y="5020056"/>
            <a:ext cx="302666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02352" y="5120640"/>
            <a:ext cx="289864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Gerber/BOM/forum workflow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8092440" y="5020056"/>
            <a:ext cx="2935224" cy="566928"/>
          </a:xfrm>
          <a:prstGeom prst="roundRect">
            <a:avLst>
              <a:gd name="adj" fmla="val 12903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65592" y="5120640"/>
            <a:ext cx="280720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bench-proto clue</a:t>
            </a:r>
            <a:endParaRPr lang="en-US" sz="930" dirty="0"/>
          </a:p>
        </p:txBody>
      </p:sp>
      <p:sp>
        <p:nvSpPr>
          <p:cNvPr id="57" name="Text 55"/>
          <p:cNvSpPr/>
          <p:nvPr/>
        </p:nvSpPr>
        <p:spPr>
          <a:xfrm>
            <a:off x="822960" y="5897880"/>
            <a:ext cx="10241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4FF"/>
                </a:solidFill>
              </a:rPr>
              <a:t>Bias: hardware+firmware wins when evidence is comparable. Firmware-only can still outrank if it is flashable and reusable immediately.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920" y="6473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Audio Mine • 2026-06-10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FFB6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555480" y="45720"/>
            <a:ext cx="2514600" cy="251460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DFF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0">
            <a:off x="18288" y="4800600"/>
            <a:ext cx="1810512" cy="1810512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• modulove/MOD2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832104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7CF"/>
                </a:solidFill>
              </a:rPr>
              <a:t>RP2350/XIAO Eurorack firmware ecosystem with UF2 deployment.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161288"/>
            <a:ext cx="1920240" cy="0"/>
          </a:xfrm>
          <a:prstGeom prst="line">
            <a:avLst/>
          </a:prstGeom>
          <a:noFill/>
          <a:ln w="12700">
            <a:solidFill>
              <a:srgbClr val="3DFF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61872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3DFFB6">
              <a:alpha val="96000"/>
            </a:srgbClr>
          </a:solidFill>
          <a:ln w="12700">
            <a:solidFill>
              <a:srgbClr val="3DFFB6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25880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STRONG_PASS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148840" y="126187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52D6FF">
              <a:alpha val="96000"/>
            </a:srgbClr>
          </a:solidFill>
          <a:ln w="12700">
            <a:solidFill>
              <a:srgbClr val="52D6FF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325880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RP2350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145536" y="1261872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FFD166">
              <a:alpha val="96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1325880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UF2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280160" y="2770632"/>
            <a:ext cx="1691640" cy="0"/>
          </a:xfrm>
          <a:prstGeom prst="line">
            <a:avLst/>
          </a:prstGeom>
          <a:noFill/>
          <a:ln w="12700">
            <a:solidFill>
              <a:srgbClr val="3DFFB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2770632"/>
            <a:ext cx="1691640" cy="0"/>
          </a:xfrm>
          <a:prstGeom prst="line">
            <a:avLst/>
          </a:prstGeom>
          <a:noFill/>
          <a:ln w="12700">
            <a:solidFill>
              <a:srgbClr val="3DFFB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2770632"/>
            <a:ext cx="1700784" cy="0"/>
          </a:xfrm>
          <a:prstGeom prst="line">
            <a:avLst/>
          </a:prstGeom>
          <a:noFill/>
          <a:ln w="12700">
            <a:solidFill>
              <a:srgbClr val="3DFFB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79408" y="2770632"/>
            <a:ext cx="1243584" cy="0"/>
          </a:xfrm>
          <a:prstGeom prst="line">
            <a:avLst/>
          </a:prstGeom>
          <a:noFill/>
          <a:ln w="12700">
            <a:solidFill>
              <a:srgbClr val="3DFFB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3232" y="2331720"/>
            <a:ext cx="1325880" cy="877824"/>
          </a:xfrm>
          <a:prstGeom prst="roundRect">
            <a:avLst>
              <a:gd name="adj" fmla="val 6250"/>
            </a:avLst>
          </a:prstGeom>
          <a:solidFill>
            <a:srgbClr val="101A2F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2395728"/>
            <a:ext cx="1216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BOOTSEL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UF2 drop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16352" y="2331720"/>
            <a:ext cx="1143000" cy="877824"/>
          </a:xfrm>
          <a:prstGeom prst="roundRect">
            <a:avLst>
              <a:gd name="adj" fmla="val 6250"/>
            </a:avLst>
          </a:prstGeom>
          <a:solidFill>
            <a:srgbClr val="101A2F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71216" y="2395728"/>
            <a:ext cx="1033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XIAO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RP2350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30952" y="2331720"/>
            <a:ext cx="1325880" cy="877824"/>
          </a:xfrm>
          <a:prstGeom prst="roundRect">
            <a:avLst>
              <a:gd name="adj" fmla="val 6250"/>
            </a:avLst>
          </a:prstGeom>
          <a:solidFill>
            <a:srgbClr val="101A2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85816" y="2395728"/>
            <a:ext cx="1216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MOD2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controls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863840" y="2331720"/>
            <a:ext cx="1325880" cy="877824"/>
          </a:xfrm>
          <a:prstGeom prst="roundRect">
            <a:avLst>
              <a:gd name="adj" fmla="val 6250"/>
            </a:avLst>
          </a:prstGeom>
          <a:solidFill>
            <a:srgbClr val="101A2F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18704" y="2395728"/>
            <a:ext cx="1216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Voice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engine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012680" y="2331720"/>
            <a:ext cx="1325880" cy="877824"/>
          </a:xfrm>
          <a:prstGeom prst="roundRect">
            <a:avLst>
              <a:gd name="adj" fmla="val 6250"/>
            </a:avLst>
          </a:prstGeom>
          <a:solidFill>
            <a:srgbClr val="101A2F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67544" y="2395728"/>
            <a:ext cx="1216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PWM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audio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5800" y="3858768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17233A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014216"/>
            <a:ext cx="2926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DF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 personalities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343400"/>
            <a:ext cx="2834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BRAIDS macro oscillator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CLAP / CLAVES / FM_DRUM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HIHAT / KICK / VCO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407408" y="3858768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17233A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4014216"/>
            <a:ext cx="2926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value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0288" y="4343400"/>
            <a:ext cx="2834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Immediate flash path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Compact control mapping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Multi-personality module model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8138160" y="3858768"/>
            <a:ext cx="3337560" cy="1353312"/>
          </a:xfrm>
          <a:prstGeom prst="roundRect">
            <a:avLst>
              <a:gd name="adj" fmla="val 5405"/>
            </a:avLst>
          </a:prstGeom>
          <a:solidFill>
            <a:srgbClr val="1723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4014216"/>
            <a:ext cx="2926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caveat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21040" y="4343400"/>
            <a:ext cx="2834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PWM output needs filtering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Hardware details partly external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Per-firmware licenses differ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868680" y="5687568"/>
            <a:ext cx="105156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Adaptation target: port one voice to Pico 2 + external I2S DAC, then package as UF2 for quick iteration.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Audio Mine • 2026-06-10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555480" y="45720"/>
            <a:ext cx="2514600" cy="251460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0">
            <a:off x="18288" y="4800600"/>
            <a:ext cx="1810512" cy="1810512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• PENDAII hardware + software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832104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7CF"/>
                </a:solidFill>
              </a:rPr>
              <a:t>Stereo Daisy Seed pedal platform: KiCad hardware meets reusable firmware services.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161288"/>
            <a:ext cx="192024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61872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D166">
              <a:alpha val="96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25880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PASS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536192" y="1261872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3DFFB6">
              <a:alpha val="96000"/>
            </a:srgbClr>
          </a:solidFill>
          <a:ln w="12700">
            <a:solidFill>
              <a:srgbClr val="3DFFB6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81912" y="1325880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Daisy Seed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0" y="126187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52D6FF">
              <a:alpha val="96000"/>
            </a:srgbClr>
          </a:solidFill>
          <a:ln w="12700">
            <a:solidFill>
              <a:srgbClr val="52D6F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325880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KiCad 9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749040" y="1261872"/>
            <a:ext cx="1115568" cy="292608"/>
          </a:xfrm>
          <a:prstGeom prst="roundRect">
            <a:avLst>
              <a:gd name="adj" fmla="val 18750"/>
            </a:avLst>
          </a:prstGeom>
          <a:solidFill>
            <a:srgbClr val="FF6BD6">
              <a:alpha val="96000"/>
            </a:srgbClr>
          </a:solidFill>
          <a:ln w="12700">
            <a:solidFill>
              <a:srgbClr val="FF6BD6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325880"/>
            <a:ext cx="1024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Stereo pedal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737360" y="2331720"/>
            <a:ext cx="118872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60520" y="2331720"/>
            <a:ext cx="1161288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0" y="2331720"/>
            <a:ext cx="118872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25128" y="2331720"/>
            <a:ext cx="1216152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" y="182880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101A2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1892808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Audio I/O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+ dry path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0" y="182880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101A2F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8064" y="1892808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Codec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framework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66360" y="1828800"/>
            <a:ext cx="1627632" cy="1005840"/>
          </a:xfrm>
          <a:prstGeom prst="roundRect">
            <a:avLst>
              <a:gd name="adj" fmla="val 5455"/>
            </a:avLst>
          </a:prstGeom>
          <a:solidFill>
            <a:srgbClr val="101A2F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1224" y="1892808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Daisy Seed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DSP core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589520" y="1828800"/>
            <a:ext cx="1700784" cy="1005840"/>
          </a:xfrm>
          <a:prstGeom prst="roundRect">
            <a:avLst>
              <a:gd name="adj" fmla="val 5455"/>
            </a:avLst>
          </a:prstGeom>
          <a:solidFill>
            <a:srgbClr val="101A2F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44384" y="1892808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UI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ST7789 + enc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012680" y="1828800"/>
            <a:ext cx="1508760" cy="1005840"/>
          </a:xfrm>
          <a:prstGeom prst="roundRect">
            <a:avLst>
              <a:gd name="adj" fmla="val 5455"/>
            </a:avLst>
          </a:prstGeom>
          <a:solidFill>
            <a:srgbClr val="101A2F"/>
          </a:solidFill>
          <a:ln w="12700">
            <a:solidFill>
              <a:srgbClr val="5EA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67544" y="1892808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MIDI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+ presets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" y="3584448"/>
            <a:ext cx="3246120" cy="1243584"/>
          </a:xfrm>
          <a:prstGeom prst="roundRect">
            <a:avLst>
              <a:gd name="adj" fmla="val 5882"/>
            </a:avLst>
          </a:prstGeom>
          <a:solidFill>
            <a:srgbClr val="1723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3730752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evidence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" y="4041648"/>
            <a:ext cx="2788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KiCad project + PCB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PDF schematic + fabrication folder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Audio / power / UI sub-schematics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462272" y="3584448"/>
            <a:ext cx="3246120" cy="1243584"/>
          </a:xfrm>
          <a:prstGeom prst="roundRect">
            <a:avLst>
              <a:gd name="adj" fmla="val 5882"/>
            </a:avLst>
          </a:prstGeom>
          <a:solidFill>
            <a:srgbClr val="17233A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3730752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DF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services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45152" y="4041648"/>
            <a:ext cx="2788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Codec init + real-time processing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SDRAM / QSPI persistence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DaisySeedGFX2 + PendaUI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156448" y="3584448"/>
            <a:ext cx="3246120" cy="1243584"/>
          </a:xfrm>
          <a:prstGeom prst="roundRect">
            <a:avLst>
              <a:gd name="adj" fmla="val 5882"/>
            </a:avLst>
          </a:prstGeom>
          <a:solidFill>
            <a:srgbClr val="17233A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3730752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lesson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39328" y="4041648"/>
            <a:ext cx="2788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Separate platform services from effect code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Analog dry path lowers failure risk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Good basis for custom carrier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822960" y="5650992"/>
            <a:ext cx="105613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inspection step: open Audio_sch + pin spreadsheet; verify codec, dry/wet topology, gain staging, grounding and display/encoder mapping.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Audio Mine • 2026-06-10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D6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555480" y="45720"/>
            <a:ext cx="2514600" cy="251460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FF6BD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0">
            <a:off x="18288" y="4800600"/>
            <a:ext cx="1810512" cy="1810512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• CVCHothouse: PSXVerb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832104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7CF"/>
                </a:solidFill>
              </a:rPr>
              <a:t>A constrained DSP reverb study: PlayStation SPU behavior rebuilt on Daisy/Hothouse.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161288"/>
            <a:ext cx="1920240" cy="0"/>
          </a:xfrm>
          <a:prstGeom prst="line">
            <a:avLst/>
          </a:prstGeom>
          <a:noFill/>
          <a:ln w="12700">
            <a:solidFill>
              <a:srgbClr val="FF6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61872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6BD6">
              <a:alpha val="96000"/>
            </a:srgbClr>
          </a:solidFill>
          <a:ln w="12700">
            <a:solidFill>
              <a:srgbClr val="FF6BD6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25880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PASS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536192" y="1261872"/>
            <a:ext cx="1481328" cy="292608"/>
          </a:xfrm>
          <a:prstGeom prst="roundRect">
            <a:avLst>
              <a:gd name="adj" fmla="val 18750"/>
            </a:avLst>
          </a:prstGeom>
          <a:solidFill>
            <a:srgbClr val="3DFFB6">
              <a:alpha val="96000"/>
            </a:srgbClr>
          </a:solidFill>
          <a:ln w="12700">
            <a:solidFill>
              <a:srgbClr val="3DFFB6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81912" y="1325880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Daisy / Hothouse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182112" y="1261872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52D6FF">
              <a:alpha val="96000"/>
            </a:srgbClr>
          </a:solidFill>
          <a:ln w="12700">
            <a:solidFill>
              <a:srgbClr val="52D6FF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325880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24 kHz core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407408" y="1261872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FFD166">
              <a:alpha val="96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3128" y="1325880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sub-ms dry path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645920" y="2450592"/>
            <a:ext cx="1234440" cy="0"/>
          </a:xfrm>
          <a:prstGeom prst="line">
            <a:avLst/>
          </a:prstGeom>
          <a:noFill/>
          <a:ln w="12700">
            <a:solidFill>
              <a:srgbClr val="FF6BD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60520" y="2450592"/>
            <a:ext cx="1252728" cy="0"/>
          </a:xfrm>
          <a:prstGeom prst="line">
            <a:avLst/>
          </a:prstGeom>
          <a:noFill/>
          <a:ln w="12700">
            <a:solidFill>
              <a:srgbClr val="FF6BD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12280" y="2450592"/>
            <a:ext cx="1207008" cy="0"/>
          </a:xfrm>
          <a:prstGeom prst="line">
            <a:avLst/>
          </a:prstGeom>
          <a:noFill/>
          <a:ln w="12700">
            <a:solidFill>
              <a:srgbClr val="FF6BD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08592" y="2450592"/>
            <a:ext cx="969264" cy="0"/>
          </a:xfrm>
          <a:prstGeom prst="line">
            <a:avLst/>
          </a:prstGeom>
          <a:noFill/>
          <a:ln w="12700">
            <a:solidFill>
              <a:srgbClr val="FF6BD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5800" y="1993392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101A2F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2057400"/>
            <a:ext cx="1170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48 kHz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I/O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61488" y="1993392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101A2F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2057400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Halfband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decimate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57800" y="1993392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01A2F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12664" y="2057400"/>
            <a:ext cx="1673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24 kHz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SPU core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818120" y="1993392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01A2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72984" y="2057400"/>
            <a:ext cx="1673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Circular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int16 memory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058400" y="1993392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101A2F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13264" y="2057400"/>
            <a:ext cx="1307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Halfband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interpolate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" y="3767328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17233A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3913632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6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DSP idea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" y="4224528"/>
            <a:ext cx="2788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Rate conversion as character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Saturation + memory model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Preset-specific work areas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462272" y="3767328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17233A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3913632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clues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45152" y="4224528"/>
            <a:ext cx="2788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39-tap halfband FIR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4-sample audio block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~62 kB largest work buffer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156448" y="3767328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1723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3913632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Caveat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39328" y="4224528"/>
            <a:ext cx="2788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Hothouse mapping required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License split needs care
</a:t>
            </a:r>
            <a:pPr indent="0" marL="0">
              <a:buNone/>
            </a:pPr>
            <a:r>
              <a:rPr lang="en-US" sz="880" dirty="0">
                <a:solidFill>
                  <a:srgbClr val="EEF4FF"/>
                </a:solidFill>
              </a:rPr>
              <a:t>• Algorithm-first, not full product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822960" y="5650992"/>
            <a:ext cx="105613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next move: extract the core and wrap it in a minimal Daisy Field UI to visualize preset memory, mix, feedback and aliasing behavior.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Audio Mine • 2026-06-10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EA1FF"/>
          </a:solidFill>
          <a:ln w="12700">
            <a:solidFill>
              <a:srgbClr val="5EA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555480" y="45720"/>
            <a:ext cx="2514600" cy="251460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5EA1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0">
            <a:off x="18288" y="4800600"/>
            <a:ext cx="1810512" cy="1810512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• FuzzyLotus/Phantasmagoria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832104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7CF"/>
                </a:solidFill>
              </a:rPr>
              <a:t>Flashable spectral delay for PedalPCB Terrarium / Daisy Seed.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161288"/>
            <a:ext cx="1920240" cy="0"/>
          </a:xfrm>
          <a:prstGeom prst="line">
            <a:avLst/>
          </a:prstGeom>
          <a:noFill/>
          <a:ln w="12700">
            <a:solidFill>
              <a:srgbClr val="5EA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61872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5EA1FF">
              <a:alpha val="96000"/>
            </a:srgbClr>
          </a:solidFill>
          <a:ln w="12700">
            <a:solidFill>
              <a:srgbClr val="5EA1F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25880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STRONG_PASS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148840" y="1261872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3DFFB6">
              <a:alpha val="96000"/>
            </a:srgbClr>
          </a:solidFill>
          <a:ln w="12700">
            <a:solidFill>
              <a:srgbClr val="3DFFB6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325880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Daisy Seed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337560" y="126187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FD166">
              <a:alpha val="96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32588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Terrarium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389120" y="1261872"/>
            <a:ext cx="1152144" cy="292608"/>
          </a:xfrm>
          <a:prstGeom prst="roundRect">
            <a:avLst>
              <a:gd name="adj" fmla="val 18750"/>
            </a:avLst>
          </a:prstGeom>
          <a:solidFill>
            <a:srgbClr val="52D6FF">
              <a:alpha val="96000"/>
            </a:srgbClr>
          </a:solidFill>
          <a:ln w="12700">
            <a:solidFill>
              <a:srgbClr val="52D6F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325880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Release binary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85800" y="1847088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17233A"/>
          </a:solidFill>
          <a:ln w="12700">
            <a:solidFill>
              <a:srgbClr val="5EA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048256"/>
            <a:ext cx="3108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487168"/>
            <a:ext cx="29718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</a:rPr>
              <a:t>• Reverse + freeze behavior
</a:t>
            </a:r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</a:rPr>
              <a:t>• Warble / room / halo / evolution switches
</a:t>
            </a:r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</a:rPr>
              <a:t>• Delay texture aimed at experimental pedal use
</a:t>
            </a:r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</a:rPr>
              <a:t>• Build-from-source path plus binary release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617720" y="1847088"/>
            <a:ext cx="2926080" cy="3246120"/>
          </a:xfrm>
          <a:prstGeom prst="roundRect">
            <a:avLst>
              <a:gd name="adj" fmla="val 2500"/>
            </a:avLst>
          </a:prstGeom>
          <a:solidFill>
            <a:srgbClr val="17233A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048256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F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idea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2487168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101A2F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9784" y="255117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Input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32120" y="2926080"/>
            <a:ext cx="0" cy="329184"/>
          </a:xfrm>
          <a:prstGeom prst="line">
            <a:avLst/>
          </a:prstGeom>
          <a:noFill/>
          <a:ln w="12700">
            <a:solidFill>
              <a:srgbClr val="5EA1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37760" y="324612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101A2F"/>
          </a:solidFill>
          <a:ln w="12700">
            <a:solidFill>
              <a:srgbClr val="5EA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331012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Spectral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delay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44768" y="3529584"/>
            <a:ext cx="420624" cy="0"/>
          </a:xfrm>
          <a:prstGeom prst="line">
            <a:avLst/>
          </a:prstGeom>
          <a:noFill/>
          <a:ln w="12700">
            <a:solidFill>
              <a:srgbClr val="FF6BD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92240" y="324612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01A2F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3310128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Freeze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reverse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32120" y="3822192"/>
            <a:ext cx="0" cy="338328"/>
          </a:xfrm>
          <a:prstGeom prst="line">
            <a:avLst/>
          </a:prstGeom>
          <a:noFill/>
          <a:ln w="12700">
            <a:solidFill>
              <a:srgbClr val="5EA1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074920" y="4151376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101A2F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9784" y="421538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Output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882128" y="1847088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1723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01584" y="2048256"/>
            <a:ext cx="28346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01584" y="2487168"/>
            <a:ext cx="27889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</a:rPr>
              <a:t>• Best immediate pedal experiment
</a:t>
            </a:r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</a:rPr>
              <a:t>• Good UI mapping study
</a:t>
            </a:r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</a:rPr>
              <a:t>• Less hardware-rich than PENDAII
</a:t>
            </a:r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</a:rPr>
              <a:t>• Worth testing on Terrarium/Hothouse-like carrier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822960" y="5650992"/>
            <a:ext cx="105613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step: flash the released binary, then compare live control behavior before spending time reading the DSP core.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Audio Mine • 2026-06-10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2D6FF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555480" y="45720"/>
            <a:ext cx="2514600" cy="251460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52D6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0">
            <a:off x="18288" y="4800600"/>
            <a:ext cx="1810512" cy="1810512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• Daisy Effect Pedal Prototyping Board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832104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7CF"/>
                </a:solidFill>
              </a:rPr>
              <a:t>Forum-hidden bench PCB scaffold for Daisy pedal experiments.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161288"/>
            <a:ext cx="1920240" cy="0"/>
          </a:xfrm>
          <a:prstGeom prst="line">
            <a:avLst/>
          </a:prstGeom>
          <a:noFill/>
          <a:ln w="12700">
            <a:solidFill>
              <a:srgbClr val="52D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61872"/>
            <a:ext cx="1024128" cy="292608"/>
          </a:xfrm>
          <a:prstGeom prst="roundRect">
            <a:avLst>
              <a:gd name="adj" fmla="val 18750"/>
            </a:avLst>
          </a:prstGeom>
          <a:solidFill>
            <a:srgbClr val="52D6FF">
              <a:alpha val="96000"/>
            </a:srgbClr>
          </a:solidFill>
          <a:ln w="12700">
            <a:solidFill>
              <a:srgbClr val="52D6F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25880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REF_PASS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874520" y="1261872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3DFFB6">
              <a:alpha val="96000"/>
            </a:srgbClr>
          </a:solidFill>
          <a:ln w="12700">
            <a:solidFill>
              <a:srgbClr val="3DFFB6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325880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Daisy forum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072384" y="1261872"/>
            <a:ext cx="987552" cy="292608"/>
          </a:xfrm>
          <a:prstGeom prst="roundRect">
            <a:avLst>
              <a:gd name="adj" fmla="val 18750"/>
            </a:avLst>
          </a:prstGeom>
          <a:solidFill>
            <a:srgbClr val="FFD166">
              <a:alpha val="96000"/>
            </a:srgbClr>
          </a:solidFill>
          <a:ln w="12700">
            <a:solidFill>
              <a:srgbClr val="FFD166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18104" y="1325880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Gerber/BOM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206240" y="1261872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6BD6">
              <a:alpha val="96000"/>
            </a:srgbClr>
          </a:solidFill>
          <a:ln w="12700">
            <a:solidFill>
              <a:srgbClr val="FF6BD6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32588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D"/>
                </a:solidFill>
              </a:rPr>
              <a:t>Oopsy/Max flow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77240" y="1874520"/>
            <a:ext cx="2971800" cy="3063240"/>
          </a:xfrm>
          <a:prstGeom prst="roundRect">
            <a:avLst>
              <a:gd name="adj" fmla="val 2462"/>
            </a:avLst>
          </a:prstGeom>
          <a:solidFill>
            <a:srgbClr val="17233A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2057400"/>
            <a:ext cx="2514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scaffold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2514600"/>
            <a:ext cx="2331720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Terrarium-like prototyping board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Buffered audio path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9 V pedal-style input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Daisy DAC/LED headers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599432" y="1874520"/>
            <a:ext cx="2971800" cy="3063240"/>
          </a:xfrm>
          <a:prstGeom prst="roundRect">
            <a:avLst>
              <a:gd name="adj" fmla="val 2462"/>
            </a:avLst>
          </a:prstGeom>
          <a:solidFill>
            <a:srgbClr val="1723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057400"/>
            <a:ext cx="2514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keep 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514600"/>
            <a:ext cx="2331720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Not polished, but practical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Forum context exposes real bring-up flow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Good carrier-board comparison point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Useful for quick Oopsy patches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275320" y="1874520"/>
            <a:ext cx="2971800" cy="3063240"/>
          </a:xfrm>
          <a:prstGeom prst="roundRect">
            <a:avLst>
              <a:gd name="adj" fmla="val 2462"/>
            </a:avLst>
          </a:prstGeom>
          <a:solidFill>
            <a:srgbClr val="17233A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2057400"/>
            <a:ext cx="2514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6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higher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76488" y="2514600"/>
            <a:ext cx="2331720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Forum attachment evidence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Source depth limited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Needs schematic/net review
</a:t>
            </a:r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</a:rPr>
              <a:t>• Better as reference than product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240280" y="5285232"/>
            <a:ext cx="2423160" cy="0"/>
          </a:xfrm>
          <a:prstGeom prst="line">
            <a:avLst/>
          </a:prstGeom>
          <a:noFill/>
          <a:ln w="12700">
            <a:solidFill>
              <a:srgbClr val="52D6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0" y="5285232"/>
            <a:ext cx="2450592" cy="0"/>
          </a:xfrm>
          <a:prstGeom prst="line">
            <a:avLst/>
          </a:prstGeom>
          <a:noFill/>
          <a:ln w="12700">
            <a:solidFill>
              <a:srgbClr val="52D6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234440" y="4956048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01A2F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9304" y="5020056"/>
            <a:ext cx="130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Bench board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4956048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01A2F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5020056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Oopsy / Max patch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321040" y="4956048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01A2F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75904" y="502005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EF4FF"/>
                </a:solidFill>
              </a:rPr>
              <a:t>Fast pedal prototype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Audio Mine • 2026-06-10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FFB6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555480" y="45720"/>
            <a:ext cx="2514600" cy="251460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DFFB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0">
            <a:off x="18288" y="4800600"/>
            <a:ext cx="1810512" cy="1810512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Cross-project engineering patterns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832104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7CF"/>
                </a:solidFill>
              </a:rPr>
              <a:t>What is worth stealing from the whole set.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161288"/>
            <a:ext cx="1920240" cy="0"/>
          </a:xfrm>
          <a:prstGeom prst="line">
            <a:avLst/>
          </a:prstGeom>
          <a:noFill/>
          <a:ln w="12700">
            <a:solidFill>
              <a:srgbClr val="3DFF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508760"/>
            <a:ext cx="3246120" cy="1389888"/>
          </a:xfrm>
          <a:prstGeom prst="roundRect">
            <a:avLst>
              <a:gd name="adj" fmla="val 5263"/>
            </a:avLst>
          </a:prstGeom>
          <a:solidFill>
            <a:srgbClr val="17233A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673352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DF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Flashable distribution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011680"/>
            <a:ext cx="2816352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MOD2 and Phantasmagoria reduce friction with UF2/binaries. Package future projects this way.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416552" y="1508760"/>
            <a:ext cx="3246120" cy="1389888"/>
          </a:xfrm>
          <a:prstGeom prst="roundRect">
            <a:avLst>
              <a:gd name="adj" fmla="val 5263"/>
            </a:avLst>
          </a:prstGeom>
          <a:solidFill>
            <a:srgbClr val="1723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673352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Hardware/service split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9432" y="2011680"/>
            <a:ext cx="2816352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PENDAII cleanly separates carrier-board services from the effect layer.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119872" y="1508760"/>
            <a:ext cx="3246120" cy="1389888"/>
          </a:xfrm>
          <a:prstGeom prst="roundRect">
            <a:avLst>
              <a:gd name="adj" fmla="val 5263"/>
            </a:avLst>
          </a:prstGeom>
          <a:solidFill>
            <a:srgbClr val="17233A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673352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6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Constrained DSP character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2752" y="2011680"/>
            <a:ext cx="2816352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PSXVerb shows rate conversion, saturation and circular memory as deliberate sound design.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2542032" y="3794760"/>
            <a:ext cx="3246120" cy="1389888"/>
          </a:xfrm>
          <a:prstGeom prst="roundRect">
            <a:avLst>
              <a:gd name="adj" fmla="val 5263"/>
            </a:avLst>
          </a:prstGeom>
          <a:solidFill>
            <a:srgbClr val="17233A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3959352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Forum-hidden hardware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24912" y="4297680"/>
            <a:ext cx="2816352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Pedal protoboard is weak as a product but useful as a quick carrier-board comparator.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245352" y="3794760"/>
            <a:ext cx="3246120" cy="1389888"/>
          </a:xfrm>
          <a:prstGeom prst="roundRect">
            <a:avLst>
              <a:gd name="adj" fmla="val 5263"/>
            </a:avLst>
          </a:prstGeom>
          <a:solidFill>
            <a:srgbClr val="17233A"/>
          </a:solidFill>
          <a:ln w="12700">
            <a:solidFill>
              <a:srgbClr val="5EA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3959352"/>
            <a:ext cx="28346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discipline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28232" y="4297680"/>
            <a:ext cx="2816352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control surfaces force clear parameter grouping: pots, switches, encoders, MIDI, presets.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822960" y="5870448"/>
            <a:ext cx="105613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bias: start with immediate flash tests, then inspect hardware nets before copying analog/audio sections.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Audio Mine • 2026-06-10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555480" y="45720"/>
            <a:ext cx="2514600" cy="251460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0">
            <a:off x="18288" y="4800600"/>
            <a:ext cx="1810512" cy="1810512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first passes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832104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7CF"/>
                </a:solidFill>
              </a:rPr>
              <a:t>Fast way to convert the digest into useful engineering work.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161288"/>
            <a:ext cx="192024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17320"/>
            <a:ext cx="10652760" cy="621792"/>
          </a:xfrm>
          <a:prstGeom prst="roundRect">
            <a:avLst>
              <a:gd name="adj" fmla="val 11765"/>
            </a:avLst>
          </a:prstGeom>
          <a:solidFill>
            <a:srgbClr val="17233A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581912"/>
            <a:ext cx="77724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DF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93392" y="1545336"/>
            <a:ext cx="19202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 / run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1563624"/>
            <a:ext cx="68580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MOD2 UF2 or Phantasmagoria binary. Verify audio path before code reading.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77240" y="2258568"/>
            <a:ext cx="10652760" cy="621792"/>
          </a:xfrm>
          <a:prstGeom prst="roundRect">
            <a:avLst>
              <a:gd name="adj" fmla="val 11765"/>
            </a:avLst>
          </a:prstGeom>
          <a:solidFill>
            <a:srgbClr val="101A2F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423160"/>
            <a:ext cx="77724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2386584"/>
            <a:ext cx="19202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Schematic audit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60520" y="2404872"/>
            <a:ext cx="68580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PENDAII Audio + power sheets. Identify codec, gain, dry/wet and grounding decisions.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77240" y="3099816"/>
            <a:ext cx="10652760" cy="621792"/>
          </a:xfrm>
          <a:prstGeom prst="roundRect">
            <a:avLst>
              <a:gd name="adj" fmla="val 11765"/>
            </a:avLst>
          </a:prstGeom>
          <a:solidFill>
            <a:srgbClr val="17233A"/>
          </a:solidFill>
          <a:ln w="12700">
            <a:solidFill>
              <a:srgbClr val="FF6B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264408"/>
            <a:ext cx="77724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6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93392" y="3227832"/>
            <a:ext cx="19202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extraction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60520" y="3246120"/>
            <a:ext cx="68580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 PSXVerb core into a minimal host. Measure buffer, CPU, latency and saturation behavior.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777240" y="3941064"/>
            <a:ext cx="10652760" cy="621792"/>
          </a:xfrm>
          <a:prstGeom prst="roundRect">
            <a:avLst>
              <a:gd name="adj" fmla="val 11765"/>
            </a:avLst>
          </a:prstGeom>
          <a:solidFill>
            <a:srgbClr val="101A2F"/>
          </a:solidFill>
          <a:ln w="12700">
            <a:solidFill>
              <a:srgbClr val="5EA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105656"/>
            <a:ext cx="77724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A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Half 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93392" y="4069080"/>
            <a:ext cx="19202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 comparison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60520" y="4087368"/>
            <a:ext cx="68580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PENDAII vs Terrarium/Hothouse/protoboard: controls, MIDI, display, bypass, serviceability.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7240" y="4782312"/>
            <a:ext cx="10652760" cy="621792"/>
          </a:xfrm>
          <a:prstGeom prst="roundRect">
            <a:avLst>
              <a:gd name="adj" fmla="val 11765"/>
            </a:avLst>
          </a:prstGeom>
          <a:solidFill>
            <a:srgbClr val="1723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946904"/>
            <a:ext cx="77724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93392" y="4910328"/>
            <a:ext cx="19202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platform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60520" y="4928616"/>
            <a:ext cx="68580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architecture: RP2350 voice module or Daisy stereo pedal carrier. Package as release-first firmware.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1005840" y="5833872"/>
            <a:ext cx="10012680" cy="347472"/>
          </a:xfrm>
          <a:prstGeom prst="roundRect">
            <a:avLst>
              <a:gd name="adj" fmla="val 21053"/>
            </a:avLst>
          </a:prstGeom>
          <a:solidFill>
            <a:srgbClr val="07101D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5943600"/>
            <a:ext cx="9555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7CF"/>
                </a:solidFill>
              </a:rPr>
              <a:t>Do not commit tracker rows until the digest Markdown is actually written to the repository.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Audio Mine • 2026-06-10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2D6FF"/>
          </a:solidFill>
          <a:ln w="12700">
            <a:solidFill>
              <a:srgbClr val="52D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555480" y="45720"/>
            <a:ext cx="2514600" cy="2514600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52D6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0">
            <a:off x="18288" y="4800600"/>
            <a:ext cx="1810512" cy="1810512"/>
          </a:xfrm>
          <a:prstGeom prst="arc">
            <a:avLst/>
          </a:prstGeom>
          <a:solidFill>
            <a:srgbClr val="0B1220">
              <a:alpha val="0"/>
            </a:srgbClr>
          </a:solidFill>
          <a:ln w="12700">
            <a:solidFill>
              <a:srgbClr val="39506E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links and tracker context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832104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7CF"/>
                </a:solidFill>
              </a:rPr>
              <a:t>Deck derived from the 2026-06-10 digest artifact. Links are included for inspection.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161288"/>
            <a:ext cx="1920240" cy="0"/>
          </a:xfrm>
          <a:prstGeom prst="line">
            <a:avLst/>
          </a:prstGeom>
          <a:noFill/>
          <a:ln w="12700">
            <a:solidFill>
              <a:srgbClr val="52D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17320"/>
            <a:ext cx="10515600" cy="402336"/>
          </a:xfrm>
          <a:prstGeom prst="roundRect">
            <a:avLst>
              <a:gd name="adj" fmla="val 18182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517904"/>
            <a:ext cx="292608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modulove/MOD2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4160520" y="1517904"/>
            <a:ext cx="690372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https://github.com/modulove/MOD2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1984248"/>
            <a:ext cx="10515600" cy="402336"/>
          </a:xfrm>
          <a:prstGeom prst="roundRect">
            <a:avLst>
              <a:gd name="adj" fmla="val 18182"/>
            </a:avLst>
          </a:prstGeom>
          <a:solidFill>
            <a:srgbClr val="101A2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084832"/>
            <a:ext cx="292608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PENDAII-Hardware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4160520" y="2084832"/>
            <a:ext cx="690372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https://github.com/DADDesign-Projects/PENDAII-Hardware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2960" y="2551176"/>
            <a:ext cx="10515600" cy="402336"/>
          </a:xfrm>
          <a:prstGeom prst="roundRect">
            <a:avLst>
              <a:gd name="adj" fmla="val 18182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651760"/>
            <a:ext cx="292608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PENDAII-Software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4160520" y="2651760"/>
            <a:ext cx="690372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https://github.com/DADDesign-Projects/PENDAII-Software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2960" y="3118104"/>
            <a:ext cx="10515600" cy="402336"/>
          </a:xfrm>
          <a:prstGeom prst="roundRect">
            <a:avLst>
              <a:gd name="adj" fmla="val 18182"/>
            </a:avLst>
          </a:prstGeom>
          <a:solidFill>
            <a:srgbClr val="101A2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218688"/>
            <a:ext cx="292608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CVCHothouse / PSXVerb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4160520" y="3218688"/>
            <a:ext cx="690372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https://github.com/charlesvestal/CVCHothouse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" y="3685032"/>
            <a:ext cx="10515600" cy="402336"/>
          </a:xfrm>
          <a:prstGeom prst="roundRect">
            <a:avLst>
              <a:gd name="adj" fmla="val 18182"/>
            </a:avLst>
          </a:prstGeom>
          <a:solidFill>
            <a:srgbClr val="17233A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785616"/>
            <a:ext cx="292608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Phantasmagoria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4160520" y="3785616"/>
            <a:ext cx="690372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https://github.com/FuzzyLotus/Phantasmagoria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2960" y="4251960"/>
            <a:ext cx="10515600" cy="402336"/>
          </a:xfrm>
          <a:prstGeom prst="roundRect">
            <a:avLst>
              <a:gd name="adj" fmla="val 18182"/>
            </a:avLst>
          </a:prstGeom>
          <a:solidFill>
            <a:srgbClr val="101A2F"/>
          </a:solidFill>
          <a:ln w="12700">
            <a:solidFill>
              <a:srgbClr val="3950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352544"/>
            <a:ext cx="292608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Daisy forum pedal prototyping board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160520" y="4352544"/>
            <a:ext cx="6903720" cy="1005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2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forum.electro-smith.com thread referenced in digest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4400" y="5257800"/>
            <a:ext cx="10332720" cy="841248"/>
          </a:xfrm>
          <a:prstGeom prst="roundRect">
            <a:avLst>
              <a:gd name="adj" fmla="val 8696"/>
            </a:avLst>
          </a:prstGeom>
          <a:solidFill>
            <a:srgbClr val="17233A"/>
          </a:solidFill>
          <a:ln w="12700">
            <a:solidFill>
              <a:srgbClr val="3DFF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5413248"/>
            <a:ext cx="20116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DFF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Anti-repeat context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5358384"/>
            <a:ext cx="7589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EF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tracker state blocks many Daisy/Teensy/Pico projects through July 2026; these five candidates were selected because they were not hard repeats in the inspected anti-repeat resources.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Audio Mine • 2026-06-10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A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Audio Mine — Found Projects 2026-06-10</dc:title>
  <dc:subject>Embedded Audio Mine daily digest project overview</dc:subject>
  <dc:creator>OpenAI</dc:creator>
  <cp:lastModifiedBy>OpenAI</cp:lastModifiedBy>
  <cp:revision>1</cp:revision>
  <dcterms:created xsi:type="dcterms:W3CDTF">2026-06-10T11:31:11Z</dcterms:created>
  <dcterms:modified xsi:type="dcterms:W3CDTF">2026-06-10T11:31:11Z</dcterms:modified>
</cp:coreProperties>
</file>